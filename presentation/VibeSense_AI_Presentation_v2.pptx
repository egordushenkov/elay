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5" d="100"/>
          <a:sy n="95" d="100"/>
        </p:scale>
        <p:origin x="-24" y="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822960"/>
            <a:ext cx="996696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91640"/>
            <a:ext cx="1143000" cy="114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23160" y="150876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VibeSense AI  (ELAY)</a:t>
            </a:r>
          </a:p>
          <a:p>
            <a:pPr>
              <a:defRPr sz="1700" b="1">
                <a:solidFill>
                  <a:srgbClr val="6366F1"/>
                </a:solidFill>
                <a:latin typeface="Segoe UI"/>
              </a:defRPr>
            </a:pPr>
            <a:r>
              <a:t>Сервис, который «чувствует» эмоциональный окрас и контекст переписки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Segoe UI"/>
              </a:defRPr>
            </a:pPr>
            <a:r>
              <a:rPr sz="1600" dirty="0" err="1"/>
              <a:t>Умный</a:t>
            </a:r>
            <a:r>
              <a:rPr sz="1600" dirty="0"/>
              <a:t> </a:t>
            </a:r>
            <a:r>
              <a:rPr sz="1600" dirty="0" err="1"/>
              <a:t>десктопный</a:t>
            </a:r>
            <a:r>
              <a:rPr sz="1600" dirty="0"/>
              <a:t> </a:t>
            </a:r>
            <a:r>
              <a:rPr sz="1600" dirty="0" err="1"/>
              <a:t>ассистент</a:t>
            </a:r>
            <a:r>
              <a:rPr sz="1600" dirty="0"/>
              <a:t> </a:t>
            </a:r>
            <a:r>
              <a:rPr sz="1600" dirty="0" err="1"/>
              <a:t>для</a:t>
            </a:r>
            <a:r>
              <a:rPr sz="1600" dirty="0"/>
              <a:t> Windows: </a:t>
            </a:r>
            <a:r>
              <a:rPr sz="1600" dirty="0" err="1"/>
              <a:t>анализирует</a:t>
            </a:r>
            <a:r>
              <a:rPr sz="1600" dirty="0"/>
              <a:t> </a:t>
            </a:r>
            <a:r>
              <a:rPr sz="1600" dirty="0" err="1"/>
              <a:t>скрытый</a:t>
            </a:r>
            <a:r>
              <a:rPr sz="1600" dirty="0"/>
              <a:t> </a:t>
            </a:r>
            <a:r>
              <a:rPr sz="1600" dirty="0" err="1"/>
              <a:t>подтекст</a:t>
            </a:r>
            <a:r>
              <a:rPr sz="1600" dirty="0"/>
              <a:t> </a:t>
            </a:r>
            <a:r>
              <a:rPr sz="1600" dirty="0" err="1"/>
              <a:t>диалогов</a:t>
            </a:r>
            <a:r>
              <a:rPr sz="1600" dirty="0"/>
              <a:t> в </a:t>
            </a:r>
            <a:r>
              <a:rPr sz="1600" dirty="0" err="1"/>
              <a:t>любых</a:t>
            </a:r>
            <a:r>
              <a:rPr sz="1600" dirty="0"/>
              <a:t> </a:t>
            </a:r>
            <a:r>
              <a:rPr sz="1600" dirty="0" err="1"/>
              <a:t>мессенджерах</a:t>
            </a:r>
            <a:r>
              <a:rPr sz="1600" dirty="0"/>
              <a:t> и </a:t>
            </a:r>
            <a:r>
              <a:rPr sz="1600" dirty="0" err="1"/>
              <a:t>помогает</a:t>
            </a:r>
            <a:r>
              <a:rPr sz="1600" dirty="0"/>
              <a:t> </a:t>
            </a:r>
            <a:r>
              <a:rPr sz="1600" dirty="0" err="1"/>
              <a:t>сформулировать</a:t>
            </a:r>
            <a:r>
              <a:rPr sz="1600" dirty="0"/>
              <a:t> </a:t>
            </a:r>
            <a:r>
              <a:rPr sz="1600" dirty="0" err="1"/>
              <a:t>идеальный</a:t>
            </a:r>
            <a:r>
              <a:rPr sz="1600" dirty="0"/>
              <a:t> </a:t>
            </a:r>
            <a:r>
              <a:rPr sz="1600" dirty="0" err="1"/>
              <a:t>ответ</a:t>
            </a:r>
            <a:r>
              <a:rPr sz="1600" dirty="0"/>
              <a:t> </a:t>
            </a:r>
            <a:r>
              <a:rPr sz="1600" dirty="0" err="1"/>
              <a:t>под</a:t>
            </a:r>
            <a:r>
              <a:rPr sz="1600" dirty="0"/>
              <a:t> </a:t>
            </a:r>
            <a:r>
              <a:rPr sz="1600" dirty="0" err="1"/>
              <a:t>конкретную</a:t>
            </a:r>
            <a:r>
              <a:rPr sz="1600" dirty="0"/>
              <a:t> </a:t>
            </a:r>
            <a:r>
              <a:rPr sz="1600" dirty="0" err="1"/>
              <a:t>цель</a:t>
            </a:r>
            <a:r>
              <a:rPr sz="1600" dirty="0"/>
              <a:t>.</a:t>
            </a: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D6FD2201-F1E4-9162-E8F2-7FFBA0274941}"/>
              </a:ext>
            </a:extLst>
          </p:cNvPr>
          <p:cNvGrpSpPr/>
          <p:nvPr/>
        </p:nvGrpSpPr>
        <p:grpSpPr>
          <a:xfrm>
            <a:off x="7516269" y="4227604"/>
            <a:ext cx="3747934" cy="1141995"/>
            <a:chOff x="7124282" y="4434840"/>
            <a:chExt cx="3747934" cy="1141995"/>
          </a:xfrm>
        </p:grpSpPr>
        <p:sp>
          <p:nvSpPr>
            <p:cNvPr id="12" name="Rounded Rectangle 11"/>
            <p:cNvSpPr/>
            <p:nvPr/>
          </p:nvSpPr>
          <p:spPr>
            <a:xfrm>
              <a:off x="7124282" y="4434840"/>
              <a:ext cx="3421464" cy="1141995"/>
            </a:xfrm>
            <a:prstGeom prst="roundRect">
              <a:avLst/>
            </a:prstGeom>
            <a:solidFill>
              <a:srgbClr val="161E2C"/>
            </a:solidFill>
            <a:ln w="12700">
              <a:solidFill>
                <a:srgbClr val="2E3B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229789" y="4514850"/>
              <a:ext cx="3642427" cy="9079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 sz="1400" b="1">
                  <a:solidFill>
                    <a:srgbClr val="FFFFFF"/>
                  </a:solidFill>
                  <a:latin typeface="Segoe UI"/>
                </a:defRPr>
              </a:pPr>
              <a:r>
                <a:rPr lang="ru-RU" dirty="0"/>
                <a:t>Выполнили:</a:t>
              </a:r>
              <a:endParaRPr dirty="0"/>
            </a:p>
            <a:p>
              <a:pPr>
                <a:defRPr sz="1100">
                  <a:solidFill>
                    <a:srgbClr val="94A3B8"/>
                  </a:solidFill>
                  <a:latin typeface="Segoe UI"/>
                </a:defRPr>
              </a:pPr>
              <a:r>
                <a:rPr lang="ru-RU" sz="1600" dirty="0"/>
                <a:t>▪️ Душенков Егор Владимирович</a:t>
              </a:r>
            </a:p>
            <a:p>
              <a:pPr>
                <a:defRPr sz="1100">
                  <a:solidFill>
                    <a:srgbClr val="94A3B8"/>
                  </a:solidFill>
                  <a:latin typeface="Segoe UI"/>
                </a:defRPr>
              </a:pPr>
              <a:r>
                <a:rPr lang="ru-RU" sz="1600" dirty="0"/>
                <a:t>▪️ </a:t>
              </a:r>
              <a:r>
                <a:rPr lang="ru-RU" sz="1600" dirty="0" err="1"/>
                <a:t>Дейкин</a:t>
              </a:r>
              <a:r>
                <a:rPr lang="ru-RU" sz="1600" dirty="0"/>
                <a:t> Артем Михайлович</a:t>
              </a:r>
              <a:endParaRPr sz="1600" dirty="0"/>
            </a:p>
          </p:txBody>
        </p:sp>
      </p:grpSp>
      <p:sp>
        <p:nvSpPr>
          <p:cNvPr id="15" name="Rectangle 2">
            <a:extLst>
              <a:ext uri="{FF2B5EF4-FFF2-40B4-BE49-F238E27FC236}">
                <a16:creationId xmlns:a16="http://schemas.microsoft.com/office/drawing/2014/main" id="{62615EEC-5ED1-6AF2-14A9-7DBB6FDF686F}"/>
              </a:ext>
            </a:extLst>
          </p:cNvPr>
          <p:cNvSpPr/>
          <p:nvPr/>
        </p:nvSpPr>
        <p:spPr>
          <a:xfrm>
            <a:off x="1112367" y="5903468"/>
            <a:ext cx="996696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731520"/>
            <a:ext cx="2651760" cy="347472"/>
          </a:xfrm>
          <a:prstGeom prst="roundRect">
            <a:avLst/>
          </a:prstGeom>
          <a:solidFill>
            <a:srgbClr val="1024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01 • ОТ ПРОБЛЕМЫ К ИДЕЕ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Почему текст обманчив и как это решает VibeSense?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В цифровом общении теряется невербалика: интонации, паузы и мимика. Человек видит только сухие буквы.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331720"/>
            <a:ext cx="4846320" cy="3931920"/>
          </a:xfrm>
          <a:prstGeom prst="roundRect">
            <a:avLst/>
          </a:prstGeom>
          <a:solidFill>
            <a:srgbClr val="161E2C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" y="2981616"/>
            <a:ext cx="91440" cy="267385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514600"/>
            <a:ext cx="4514850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rPr lang="ru-RU" dirty="0"/>
              <a:t>	</a:t>
            </a:r>
            <a:r>
              <a:rPr dirty="0" err="1"/>
              <a:t>Проблема</a:t>
            </a:r>
            <a:r>
              <a:rPr dirty="0"/>
              <a:t> </a:t>
            </a:r>
            <a:r>
              <a:rPr dirty="0" err="1"/>
              <a:t>цифрового</a:t>
            </a:r>
            <a:r>
              <a:rPr dirty="0"/>
              <a:t> </a:t>
            </a:r>
            <a:r>
              <a:rPr dirty="0" err="1"/>
              <a:t>текста</a:t>
            </a:r>
            <a:endParaRPr dirty="0"/>
          </a:p>
          <a:p>
            <a:pPr>
              <a:defRPr sz="1200">
                <a:latin typeface="Segoe UI"/>
              </a:defRPr>
            </a:pPr>
            <a:r>
              <a:rPr sz="1600" b="1" dirty="0">
                <a:solidFill>
                  <a:srgbClr val="F59E0B"/>
                </a:solidFill>
              </a:rPr>
              <a:t>• </a:t>
            </a:r>
            <a:r>
              <a:rPr sz="1600" b="1" dirty="0" err="1">
                <a:solidFill>
                  <a:srgbClr val="F59E0B"/>
                </a:solidFill>
              </a:rPr>
              <a:t>Скрытая</a:t>
            </a:r>
            <a:r>
              <a:rPr sz="1600" b="1" dirty="0">
                <a:solidFill>
                  <a:srgbClr val="F59E0B"/>
                </a:solidFill>
              </a:rPr>
              <a:t> </a:t>
            </a:r>
            <a:r>
              <a:rPr sz="1600" b="1" dirty="0" err="1">
                <a:solidFill>
                  <a:srgbClr val="F59E0B"/>
                </a:solidFill>
              </a:rPr>
              <a:t>агрессия</a:t>
            </a:r>
            <a:r>
              <a:rPr sz="1600" b="1" dirty="0">
                <a:solidFill>
                  <a:srgbClr val="F59E0B"/>
                </a:solidFill>
              </a:rPr>
              <a:t> и </a:t>
            </a:r>
            <a:r>
              <a:rPr sz="1600" b="1" dirty="0" err="1">
                <a:solidFill>
                  <a:srgbClr val="F59E0B"/>
                </a:solidFill>
              </a:rPr>
              <a:t>сарказм</a:t>
            </a:r>
            <a:r>
              <a:rPr sz="1600" b="1" dirty="0">
                <a:solidFill>
                  <a:srgbClr val="F59E0B"/>
                </a:solidFill>
              </a:rPr>
              <a:t>: </a:t>
            </a:r>
            <a:r>
              <a:rPr sz="1600" dirty="0" err="1">
                <a:solidFill>
                  <a:srgbClr val="CBD5E1"/>
                </a:solidFill>
              </a:rPr>
              <a:t>пассивный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негатив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часто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прячется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за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вежливыми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фразами</a:t>
            </a:r>
            <a:r>
              <a:rPr sz="1600" dirty="0">
                <a:solidFill>
                  <a:srgbClr val="CBD5E1"/>
                </a:solidFill>
              </a:rPr>
              <a:t> — </a:t>
            </a:r>
            <a:r>
              <a:rPr sz="1600" dirty="0" err="1">
                <a:solidFill>
                  <a:srgbClr val="CBD5E1"/>
                </a:solidFill>
              </a:rPr>
              <a:t>пропустить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его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легко</a:t>
            </a:r>
            <a:r>
              <a:rPr sz="1600" dirty="0">
                <a:solidFill>
                  <a:srgbClr val="CBD5E1"/>
                </a:solidFill>
              </a:rPr>
              <a:t>.</a:t>
            </a:r>
            <a:endParaRPr lang="ru-RU" sz="1600" dirty="0">
              <a:solidFill>
                <a:srgbClr val="CBD5E1"/>
              </a:solidFill>
            </a:endParaRPr>
          </a:p>
          <a:p>
            <a:pPr>
              <a:defRPr sz="1200">
                <a:latin typeface="Segoe UI"/>
              </a:defRPr>
            </a:pPr>
            <a:endParaRPr sz="1600" dirty="0">
              <a:solidFill>
                <a:srgbClr val="CBD5E1"/>
              </a:solidFill>
            </a:endParaRPr>
          </a:p>
          <a:p>
            <a:pPr>
              <a:defRPr sz="1200">
                <a:latin typeface="Segoe UI"/>
              </a:defRPr>
            </a:pPr>
            <a:r>
              <a:rPr sz="1600" b="1" dirty="0">
                <a:solidFill>
                  <a:srgbClr val="F59E0B"/>
                </a:solidFill>
              </a:rPr>
              <a:t>• </a:t>
            </a:r>
            <a:r>
              <a:rPr sz="1600" b="1" dirty="0" err="1">
                <a:solidFill>
                  <a:srgbClr val="F59E0B"/>
                </a:solidFill>
              </a:rPr>
              <a:t>Цена</a:t>
            </a:r>
            <a:r>
              <a:rPr sz="1600" b="1" dirty="0">
                <a:solidFill>
                  <a:srgbClr val="F59E0B"/>
                </a:solidFill>
              </a:rPr>
              <a:t> </a:t>
            </a:r>
            <a:r>
              <a:rPr sz="1600" b="1" dirty="0" err="1">
                <a:solidFill>
                  <a:srgbClr val="F59E0B"/>
                </a:solidFill>
              </a:rPr>
              <a:t>ошибки</a:t>
            </a:r>
            <a:r>
              <a:rPr sz="1600" b="1" dirty="0">
                <a:solidFill>
                  <a:srgbClr val="F59E0B"/>
                </a:solidFill>
              </a:rPr>
              <a:t> в </a:t>
            </a:r>
            <a:r>
              <a:rPr sz="1600" b="1" dirty="0" err="1">
                <a:solidFill>
                  <a:srgbClr val="F59E0B"/>
                </a:solidFill>
              </a:rPr>
              <a:t>один</a:t>
            </a:r>
            <a:r>
              <a:rPr sz="1600" b="1" dirty="0">
                <a:solidFill>
                  <a:srgbClr val="F59E0B"/>
                </a:solidFill>
              </a:rPr>
              <a:t> </a:t>
            </a:r>
            <a:r>
              <a:rPr sz="1600" b="1" dirty="0" err="1">
                <a:solidFill>
                  <a:srgbClr val="F59E0B"/>
                </a:solidFill>
              </a:rPr>
              <a:t>ответ</a:t>
            </a:r>
            <a:r>
              <a:rPr sz="1600" b="1" dirty="0">
                <a:solidFill>
                  <a:srgbClr val="F59E0B"/>
                </a:solidFill>
              </a:rPr>
              <a:t>: </a:t>
            </a:r>
            <a:r>
              <a:rPr sz="1600" dirty="0" err="1">
                <a:solidFill>
                  <a:srgbClr val="CBD5E1"/>
                </a:solidFill>
              </a:rPr>
              <a:t>сорванная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сделка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на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Авито</a:t>
            </a:r>
            <a:r>
              <a:rPr sz="1600" dirty="0">
                <a:solidFill>
                  <a:srgbClr val="CBD5E1"/>
                </a:solidFill>
              </a:rPr>
              <a:t>/</a:t>
            </a:r>
            <a:r>
              <a:rPr sz="1600" dirty="0" err="1">
                <a:solidFill>
                  <a:srgbClr val="CBD5E1"/>
                </a:solidFill>
              </a:rPr>
              <a:t>FunPay</a:t>
            </a:r>
            <a:r>
              <a:rPr sz="1600" dirty="0">
                <a:solidFill>
                  <a:srgbClr val="CBD5E1"/>
                </a:solidFill>
              </a:rPr>
              <a:t>, </a:t>
            </a:r>
            <a:r>
              <a:rPr sz="1600" dirty="0" err="1">
                <a:solidFill>
                  <a:srgbClr val="CBD5E1"/>
                </a:solidFill>
              </a:rPr>
              <a:t>конфликт</a:t>
            </a:r>
            <a:r>
              <a:rPr sz="1600" dirty="0">
                <a:solidFill>
                  <a:srgbClr val="CBD5E1"/>
                </a:solidFill>
              </a:rPr>
              <a:t> с </a:t>
            </a:r>
            <a:r>
              <a:rPr sz="1600" dirty="0" err="1">
                <a:solidFill>
                  <a:srgbClr val="CBD5E1"/>
                </a:solidFill>
              </a:rPr>
              <a:t>клиентом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или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ссора</a:t>
            </a:r>
            <a:r>
              <a:rPr sz="1600" dirty="0">
                <a:solidFill>
                  <a:srgbClr val="CBD5E1"/>
                </a:solidFill>
              </a:rPr>
              <a:t> в </a:t>
            </a:r>
            <a:r>
              <a:rPr sz="1600" dirty="0" err="1">
                <a:solidFill>
                  <a:srgbClr val="CBD5E1"/>
                </a:solidFill>
              </a:rPr>
              <a:t>рабочем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чате</a:t>
            </a:r>
            <a:r>
              <a:rPr sz="1600" dirty="0">
                <a:solidFill>
                  <a:srgbClr val="CBD5E1"/>
                </a:solidFill>
              </a:rPr>
              <a:t>.</a:t>
            </a:r>
            <a:endParaRPr lang="ru-RU" sz="1600" dirty="0">
              <a:solidFill>
                <a:srgbClr val="CBD5E1"/>
              </a:solidFill>
            </a:endParaRPr>
          </a:p>
          <a:p>
            <a:pPr>
              <a:defRPr sz="1200">
                <a:latin typeface="Segoe UI"/>
              </a:defRPr>
            </a:pPr>
            <a:endParaRPr sz="1600" dirty="0">
              <a:solidFill>
                <a:srgbClr val="CBD5E1"/>
              </a:solidFill>
            </a:endParaRPr>
          </a:p>
          <a:p>
            <a:pPr>
              <a:defRPr sz="1200">
                <a:latin typeface="Segoe UI"/>
              </a:defRPr>
            </a:pPr>
            <a:r>
              <a:rPr sz="1600" b="1" dirty="0">
                <a:solidFill>
                  <a:srgbClr val="F59E0B"/>
                </a:solidFill>
              </a:rPr>
              <a:t>• </a:t>
            </a:r>
            <a:r>
              <a:rPr sz="1600" b="1" dirty="0" err="1">
                <a:solidFill>
                  <a:srgbClr val="F59E0B"/>
                </a:solidFill>
              </a:rPr>
              <a:t>Ступор</a:t>
            </a:r>
            <a:r>
              <a:rPr sz="1600" b="1" dirty="0">
                <a:solidFill>
                  <a:srgbClr val="F59E0B"/>
                </a:solidFill>
              </a:rPr>
              <a:t> </a:t>
            </a:r>
            <a:r>
              <a:rPr sz="1600" b="1" dirty="0" err="1">
                <a:solidFill>
                  <a:srgbClr val="F59E0B"/>
                </a:solidFill>
              </a:rPr>
              <a:t>формулировок</a:t>
            </a:r>
            <a:r>
              <a:rPr sz="1600" b="1" dirty="0">
                <a:solidFill>
                  <a:srgbClr val="F59E0B"/>
                </a:solidFill>
              </a:rPr>
              <a:t>: </a:t>
            </a:r>
            <a:r>
              <a:rPr sz="1600" dirty="0" err="1">
                <a:solidFill>
                  <a:srgbClr val="CBD5E1"/>
                </a:solidFill>
              </a:rPr>
              <a:t>поиск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ответа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отнимает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десятки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минут</a:t>
            </a:r>
            <a:r>
              <a:rPr sz="1600" dirty="0">
                <a:solidFill>
                  <a:srgbClr val="CBD5E1"/>
                </a:solidFill>
              </a:rPr>
              <a:t>: «</a:t>
            </a:r>
            <a:r>
              <a:rPr sz="1600" dirty="0" err="1">
                <a:solidFill>
                  <a:srgbClr val="CBD5E1"/>
                </a:solidFill>
              </a:rPr>
              <a:t>как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отказать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без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обид</a:t>
            </a:r>
            <a:r>
              <a:rPr sz="1600" dirty="0">
                <a:solidFill>
                  <a:srgbClr val="CBD5E1"/>
                </a:solidFill>
              </a:rPr>
              <a:t>?», «</a:t>
            </a:r>
            <a:r>
              <a:rPr sz="1600" dirty="0" err="1">
                <a:solidFill>
                  <a:srgbClr val="CBD5E1"/>
                </a:solidFill>
              </a:rPr>
              <a:t>как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поторговаться</a:t>
            </a:r>
            <a:r>
              <a:rPr sz="1600" dirty="0">
                <a:solidFill>
                  <a:srgbClr val="CBD5E1"/>
                </a:solidFill>
              </a:rPr>
              <a:t>?».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331720"/>
            <a:ext cx="4846320" cy="3931920"/>
          </a:xfrm>
          <a:prstGeom prst="roundRect">
            <a:avLst/>
          </a:prstGeom>
          <a:solidFill>
            <a:srgbClr val="161E2C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2981617"/>
            <a:ext cx="91440" cy="26738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514600"/>
            <a:ext cx="4389120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rPr lang="ru-RU" dirty="0"/>
              <a:t>	</a:t>
            </a:r>
            <a:r>
              <a:rPr dirty="0" err="1"/>
              <a:t>Идея</a:t>
            </a:r>
            <a:r>
              <a:rPr dirty="0"/>
              <a:t> </a:t>
            </a:r>
            <a:r>
              <a:rPr dirty="0" err="1"/>
              <a:t>решения</a:t>
            </a:r>
            <a:r>
              <a:rPr dirty="0"/>
              <a:t>: </a:t>
            </a:r>
            <a:r>
              <a:rPr dirty="0" err="1"/>
              <a:t>VibeSense</a:t>
            </a:r>
            <a:r>
              <a:rPr dirty="0"/>
              <a:t> AI</a:t>
            </a:r>
          </a:p>
          <a:p>
            <a:pPr>
              <a:defRPr sz="1200">
                <a:latin typeface="Segoe UI"/>
              </a:defRPr>
            </a:pPr>
            <a:r>
              <a:rPr sz="1600" b="1" dirty="0">
                <a:solidFill>
                  <a:srgbClr val="10B981"/>
                </a:solidFill>
              </a:rPr>
              <a:t>• «</a:t>
            </a:r>
            <a:r>
              <a:rPr sz="1600" b="1" dirty="0" err="1">
                <a:solidFill>
                  <a:srgbClr val="10B981"/>
                </a:solidFill>
              </a:rPr>
              <a:t>Чувствует</a:t>
            </a:r>
            <a:r>
              <a:rPr sz="1600" b="1" dirty="0">
                <a:solidFill>
                  <a:srgbClr val="10B981"/>
                </a:solidFill>
              </a:rPr>
              <a:t>» </a:t>
            </a:r>
            <a:r>
              <a:rPr sz="1600" b="1" dirty="0" err="1">
                <a:solidFill>
                  <a:srgbClr val="10B981"/>
                </a:solidFill>
              </a:rPr>
              <a:t>живой</a:t>
            </a:r>
            <a:r>
              <a:rPr sz="1600" b="1" dirty="0">
                <a:solidFill>
                  <a:srgbClr val="10B981"/>
                </a:solidFill>
              </a:rPr>
              <a:t> </a:t>
            </a:r>
            <a:r>
              <a:rPr sz="1600" b="1" dirty="0" err="1">
                <a:solidFill>
                  <a:srgbClr val="10B981"/>
                </a:solidFill>
              </a:rPr>
              <a:t>контекст</a:t>
            </a:r>
            <a:r>
              <a:rPr sz="1600" b="1" dirty="0">
                <a:solidFill>
                  <a:srgbClr val="10B981"/>
                </a:solidFill>
              </a:rPr>
              <a:t>: </a:t>
            </a:r>
            <a:r>
              <a:rPr sz="1600" dirty="0" err="1">
                <a:solidFill>
                  <a:srgbClr val="CBD5E1"/>
                </a:solidFill>
              </a:rPr>
              <a:t>анализирует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скриншот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чата</a:t>
            </a:r>
            <a:r>
              <a:rPr sz="1600" dirty="0">
                <a:solidFill>
                  <a:srgbClr val="CBD5E1"/>
                </a:solidFill>
              </a:rPr>
              <a:t> (</a:t>
            </a:r>
            <a:r>
              <a:rPr sz="1600" dirty="0" err="1">
                <a:solidFill>
                  <a:srgbClr val="CBD5E1"/>
                </a:solidFill>
              </a:rPr>
              <a:t>таймстампы</a:t>
            </a:r>
            <a:r>
              <a:rPr sz="1600" dirty="0">
                <a:solidFill>
                  <a:srgbClr val="CBD5E1"/>
                </a:solidFill>
              </a:rPr>
              <a:t>, </a:t>
            </a:r>
            <a:r>
              <a:rPr sz="1600" dirty="0" err="1">
                <a:solidFill>
                  <a:srgbClr val="CBD5E1"/>
                </a:solidFill>
              </a:rPr>
              <a:t>паузы</a:t>
            </a:r>
            <a:r>
              <a:rPr sz="1600" dirty="0">
                <a:solidFill>
                  <a:srgbClr val="CBD5E1"/>
                </a:solidFill>
              </a:rPr>
              <a:t>, </a:t>
            </a:r>
            <a:r>
              <a:rPr sz="1600" dirty="0" err="1">
                <a:solidFill>
                  <a:srgbClr val="CBD5E1"/>
                </a:solidFill>
              </a:rPr>
              <a:t>реакции</a:t>
            </a:r>
            <a:r>
              <a:rPr sz="1600" dirty="0">
                <a:solidFill>
                  <a:srgbClr val="CBD5E1"/>
                </a:solidFill>
              </a:rPr>
              <a:t>, </a:t>
            </a:r>
            <a:r>
              <a:rPr sz="1600" dirty="0" err="1">
                <a:solidFill>
                  <a:srgbClr val="CBD5E1"/>
                </a:solidFill>
              </a:rPr>
              <a:t>эмодзи</a:t>
            </a:r>
            <a:r>
              <a:rPr sz="1600" dirty="0">
                <a:solidFill>
                  <a:srgbClr val="CBD5E1"/>
                </a:solidFill>
              </a:rPr>
              <a:t>), а </a:t>
            </a:r>
            <a:r>
              <a:rPr sz="1600" dirty="0" err="1">
                <a:solidFill>
                  <a:srgbClr val="CBD5E1"/>
                </a:solidFill>
              </a:rPr>
              <a:t>не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сухой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текст</a:t>
            </a:r>
            <a:r>
              <a:rPr sz="1600" dirty="0">
                <a:solidFill>
                  <a:srgbClr val="CBD5E1"/>
                </a:solidFill>
              </a:rPr>
              <a:t>.</a:t>
            </a:r>
            <a:endParaRPr lang="ru-RU" sz="1600" dirty="0">
              <a:solidFill>
                <a:srgbClr val="CBD5E1"/>
              </a:solidFill>
            </a:endParaRPr>
          </a:p>
          <a:p>
            <a:pPr>
              <a:defRPr sz="1200">
                <a:latin typeface="Segoe UI"/>
              </a:defRPr>
            </a:pPr>
            <a:endParaRPr sz="1600" dirty="0">
              <a:solidFill>
                <a:srgbClr val="CBD5E1"/>
              </a:solidFill>
            </a:endParaRPr>
          </a:p>
          <a:p>
            <a:pPr>
              <a:defRPr sz="1200">
                <a:latin typeface="Segoe UI"/>
              </a:defRPr>
            </a:pPr>
            <a:r>
              <a:rPr sz="1600" b="1" dirty="0">
                <a:solidFill>
                  <a:srgbClr val="10B981"/>
                </a:solidFill>
              </a:rPr>
              <a:t>• </a:t>
            </a:r>
            <a:r>
              <a:rPr sz="1600" b="1" dirty="0" err="1">
                <a:solidFill>
                  <a:srgbClr val="10B981"/>
                </a:solidFill>
              </a:rPr>
              <a:t>Оцифровывает</a:t>
            </a:r>
            <a:r>
              <a:rPr sz="1600" b="1" dirty="0">
                <a:solidFill>
                  <a:srgbClr val="10B981"/>
                </a:solidFill>
              </a:rPr>
              <a:t> </a:t>
            </a:r>
            <a:r>
              <a:rPr sz="1600" b="1" dirty="0" err="1">
                <a:solidFill>
                  <a:srgbClr val="10B981"/>
                </a:solidFill>
              </a:rPr>
              <a:t>атмосферу</a:t>
            </a:r>
            <a:r>
              <a:rPr sz="1600" b="1" dirty="0">
                <a:solidFill>
                  <a:srgbClr val="10B981"/>
                </a:solidFill>
              </a:rPr>
              <a:t>: </a:t>
            </a:r>
            <a:r>
              <a:rPr sz="1600" dirty="0" err="1">
                <a:solidFill>
                  <a:srgbClr val="CBD5E1"/>
                </a:solidFill>
              </a:rPr>
              <a:t>шкала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накала</a:t>
            </a:r>
            <a:r>
              <a:rPr sz="1600" dirty="0">
                <a:solidFill>
                  <a:srgbClr val="CBD5E1"/>
                </a:solidFill>
              </a:rPr>
              <a:t> (1–10), </a:t>
            </a:r>
            <a:r>
              <a:rPr sz="1600" dirty="0" err="1">
                <a:solidFill>
                  <a:srgbClr val="CBD5E1"/>
                </a:solidFill>
              </a:rPr>
              <a:t>уровень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формальности</a:t>
            </a:r>
            <a:r>
              <a:rPr sz="1600" dirty="0">
                <a:solidFill>
                  <a:srgbClr val="CBD5E1"/>
                </a:solidFill>
              </a:rPr>
              <a:t> и </a:t>
            </a:r>
            <a:r>
              <a:rPr sz="1600" dirty="0" err="1">
                <a:solidFill>
                  <a:srgbClr val="CBD5E1"/>
                </a:solidFill>
              </a:rPr>
              <a:t>негласные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правила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именно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этого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чата</a:t>
            </a:r>
            <a:r>
              <a:rPr sz="1600" dirty="0">
                <a:solidFill>
                  <a:srgbClr val="CBD5E1"/>
                </a:solidFill>
              </a:rPr>
              <a:t>.</a:t>
            </a:r>
            <a:endParaRPr lang="ru-RU" sz="1600" dirty="0">
              <a:solidFill>
                <a:srgbClr val="CBD5E1"/>
              </a:solidFill>
            </a:endParaRPr>
          </a:p>
          <a:p>
            <a:pPr>
              <a:defRPr sz="1200">
                <a:latin typeface="Segoe UI"/>
              </a:defRPr>
            </a:pPr>
            <a:endParaRPr sz="1600" dirty="0">
              <a:solidFill>
                <a:srgbClr val="CBD5E1"/>
              </a:solidFill>
            </a:endParaRPr>
          </a:p>
          <a:p>
            <a:pPr>
              <a:defRPr sz="1200">
                <a:latin typeface="Segoe UI"/>
              </a:defRPr>
            </a:pPr>
            <a:r>
              <a:rPr sz="1600" b="1" dirty="0">
                <a:solidFill>
                  <a:srgbClr val="10B981"/>
                </a:solidFill>
              </a:rPr>
              <a:t>• </a:t>
            </a:r>
            <a:r>
              <a:rPr sz="1600" b="1" dirty="0" err="1">
                <a:solidFill>
                  <a:srgbClr val="10B981"/>
                </a:solidFill>
              </a:rPr>
              <a:t>Помогает</a:t>
            </a:r>
            <a:r>
              <a:rPr sz="1600" b="1" dirty="0">
                <a:solidFill>
                  <a:srgbClr val="10B981"/>
                </a:solidFill>
              </a:rPr>
              <a:t> в </a:t>
            </a:r>
            <a:r>
              <a:rPr sz="1600" b="1" dirty="0" err="1">
                <a:solidFill>
                  <a:srgbClr val="10B981"/>
                </a:solidFill>
              </a:rPr>
              <a:t>любых</a:t>
            </a:r>
            <a:r>
              <a:rPr sz="1600" b="1" dirty="0">
                <a:solidFill>
                  <a:srgbClr val="10B981"/>
                </a:solidFill>
              </a:rPr>
              <a:t> </a:t>
            </a:r>
            <a:r>
              <a:rPr sz="1600" b="1" dirty="0" err="1">
                <a:solidFill>
                  <a:srgbClr val="10B981"/>
                </a:solidFill>
              </a:rPr>
              <a:t>сферах</a:t>
            </a:r>
            <a:r>
              <a:rPr sz="1600" b="1" dirty="0">
                <a:solidFill>
                  <a:srgbClr val="10B981"/>
                </a:solidFill>
              </a:rPr>
              <a:t>: </a:t>
            </a:r>
            <a:r>
              <a:rPr sz="1600" dirty="0">
                <a:solidFill>
                  <a:srgbClr val="CBD5E1"/>
                </a:solidFill>
              </a:rPr>
              <a:t>P2P-торговля (</a:t>
            </a:r>
            <a:r>
              <a:rPr sz="1600" dirty="0" err="1">
                <a:solidFill>
                  <a:srgbClr val="CBD5E1"/>
                </a:solidFill>
              </a:rPr>
              <a:t>сбить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цену</a:t>
            </a:r>
            <a:r>
              <a:rPr sz="1600" dirty="0">
                <a:solidFill>
                  <a:srgbClr val="CBD5E1"/>
                </a:solidFill>
              </a:rPr>
              <a:t>), </a:t>
            </a:r>
            <a:r>
              <a:rPr sz="1600" dirty="0" err="1">
                <a:solidFill>
                  <a:srgbClr val="CBD5E1"/>
                </a:solidFill>
              </a:rPr>
              <a:t>рабочие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чаты</a:t>
            </a:r>
            <a:r>
              <a:rPr sz="1600" dirty="0">
                <a:solidFill>
                  <a:srgbClr val="CBD5E1"/>
                </a:solidFill>
              </a:rPr>
              <a:t> (</a:t>
            </a:r>
            <a:r>
              <a:rPr sz="1600" dirty="0" err="1">
                <a:solidFill>
                  <a:srgbClr val="CBD5E1"/>
                </a:solidFill>
              </a:rPr>
              <a:t>снять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накал</a:t>
            </a:r>
            <a:r>
              <a:rPr sz="1600" dirty="0">
                <a:solidFill>
                  <a:srgbClr val="CBD5E1"/>
                </a:solidFill>
              </a:rPr>
              <a:t>), </a:t>
            </a:r>
            <a:r>
              <a:rPr sz="1600" dirty="0" err="1">
                <a:solidFill>
                  <a:srgbClr val="CBD5E1"/>
                </a:solidFill>
              </a:rPr>
              <a:t>дейтинг</a:t>
            </a:r>
            <a:r>
              <a:rPr sz="1600" dirty="0">
                <a:solidFill>
                  <a:srgbClr val="CBD5E1"/>
                </a:solidFill>
              </a:rPr>
              <a:t> и </a:t>
            </a:r>
            <a:r>
              <a:rPr sz="1600" dirty="0" err="1">
                <a:solidFill>
                  <a:srgbClr val="CBD5E1"/>
                </a:solidFill>
              </a:rPr>
              <a:t>защита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личных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границ</a:t>
            </a:r>
            <a:r>
              <a:rPr sz="1600" dirty="0">
                <a:solidFill>
                  <a:srgbClr val="CBD5E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731520"/>
            <a:ext cx="3108960" cy="347472"/>
          </a:xfrm>
          <a:prstGeom prst="roundRect">
            <a:avLst/>
          </a:prstGeom>
          <a:solidFill>
            <a:srgbClr val="10242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02 • СЦЕНАРИЙ И ВОЗМОЖНОСТИ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сервис</a:t>
            </a:r>
            <a:r>
              <a:rPr dirty="0"/>
              <a:t>: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скриншота</a:t>
            </a:r>
            <a:r>
              <a:rPr dirty="0"/>
              <a:t> к </a:t>
            </a:r>
            <a:r>
              <a:rPr dirty="0" err="1"/>
              <a:t>готовому</a:t>
            </a:r>
            <a:r>
              <a:rPr dirty="0"/>
              <a:t> </a:t>
            </a:r>
            <a:r>
              <a:rPr dirty="0" err="1"/>
              <a:t>ответу</a:t>
            </a:r>
            <a:endParaRPr dirty="0"/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rPr dirty="0" err="1"/>
              <a:t>Быстрый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прямо</a:t>
            </a:r>
            <a:r>
              <a:rPr dirty="0"/>
              <a:t> </a:t>
            </a:r>
            <a:r>
              <a:rPr dirty="0" err="1"/>
              <a:t>во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переписки</a:t>
            </a:r>
            <a:r>
              <a:rPr dirty="0"/>
              <a:t> (</a:t>
            </a:r>
            <a:r>
              <a:rPr dirty="0" err="1"/>
              <a:t>занимает</a:t>
            </a:r>
            <a:r>
              <a:rPr dirty="0"/>
              <a:t> </a:t>
            </a:r>
            <a:r>
              <a:rPr dirty="0" err="1"/>
              <a:t>менее</a:t>
            </a:r>
            <a:r>
              <a:rPr dirty="0"/>
              <a:t> </a:t>
            </a:r>
            <a:r>
              <a:rPr lang="ru-RU" dirty="0"/>
              <a:t>10 </a:t>
            </a:r>
            <a:r>
              <a:rPr dirty="0" err="1"/>
              <a:t>секунд</a:t>
            </a:r>
            <a:r>
              <a:rPr dirty="0"/>
              <a:t>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331720"/>
            <a:ext cx="2331720" cy="1737360"/>
          </a:xfrm>
          <a:prstGeom prst="roundRect">
            <a:avLst/>
          </a:prstGeom>
          <a:solidFill>
            <a:srgbClr val="161E2C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468880"/>
            <a:ext cx="196596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rPr dirty="0"/>
              <a:t>01 • Alt + S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rPr sz="1600" dirty="0" err="1"/>
              <a:t>Открытие</a:t>
            </a:r>
            <a:r>
              <a:rPr sz="1600" dirty="0"/>
              <a:t> </a:t>
            </a:r>
            <a:r>
              <a:rPr sz="1600" dirty="0" err="1"/>
              <a:t>плавающего</a:t>
            </a:r>
            <a:r>
              <a:rPr sz="1600" dirty="0"/>
              <a:t> </a:t>
            </a:r>
            <a:r>
              <a:rPr sz="1600" dirty="0" err="1"/>
              <a:t>окна</a:t>
            </a:r>
            <a:r>
              <a:rPr sz="1600" dirty="0"/>
              <a:t> </a:t>
            </a:r>
            <a:r>
              <a:rPr sz="1600" dirty="0" err="1"/>
              <a:t>поверх</a:t>
            </a:r>
            <a:r>
              <a:rPr sz="1600" dirty="0"/>
              <a:t> </a:t>
            </a:r>
            <a:r>
              <a:rPr sz="1600" dirty="0" err="1"/>
              <a:t>любого</a:t>
            </a:r>
            <a:r>
              <a:rPr sz="1600" dirty="0"/>
              <a:t> </a:t>
            </a:r>
            <a:r>
              <a:rPr sz="1600" dirty="0" err="1"/>
              <a:t>мессенджера</a:t>
            </a:r>
            <a:endParaRPr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3639312" y="2331720"/>
            <a:ext cx="2331720" cy="1737360"/>
          </a:xfrm>
          <a:prstGeom prst="roundRect">
            <a:avLst/>
          </a:prstGeom>
          <a:solidFill>
            <a:srgbClr val="161E2C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22192" y="2468880"/>
            <a:ext cx="196596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rPr dirty="0"/>
              <a:t>02 • </a:t>
            </a:r>
            <a:r>
              <a:rPr dirty="0" err="1"/>
              <a:t>Снимок</a:t>
            </a:r>
            <a:endParaRPr dirty="0"/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rPr sz="1600" dirty="0" err="1"/>
              <a:t>Выделение</a:t>
            </a:r>
            <a:r>
              <a:rPr sz="1600" dirty="0"/>
              <a:t> </a:t>
            </a:r>
            <a:r>
              <a:rPr sz="1600" dirty="0" err="1"/>
              <a:t>области</a:t>
            </a:r>
            <a:r>
              <a:rPr sz="1600" dirty="0"/>
              <a:t> </a:t>
            </a:r>
            <a:r>
              <a:rPr sz="1600" dirty="0" err="1"/>
              <a:t>чата</a:t>
            </a:r>
            <a:r>
              <a:rPr sz="1600" dirty="0"/>
              <a:t> (</a:t>
            </a:r>
            <a:r>
              <a:rPr sz="1600" dirty="0" err="1"/>
              <a:t>до</a:t>
            </a:r>
            <a:r>
              <a:rPr sz="1600" dirty="0"/>
              <a:t> 10 </a:t>
            </a:r>
            <a:r>
              <a:rPr sz="1600" dirty="0" err="1"/>
              <a:t>скриншотов</a:t>
            </a:r>
            <a:r>
              <a:rPr sz="1600" dirty="0"/>
              <a:t> </a:t>
            </a:r>
            <a:r>
              <a:rPr sz="1600" dirty="0" err="1"/>
              <a:t>подряд</a:t>
            </a:r>
            <a:r>
              <a:rPr sz="1600" dirty="0"/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2331720"/>
            <a:ext cx="2331720" cy="1737360"/>
          </a:xfrm>
          <a:prstGeom prst="roundRect">
            <a:avLst/>
          </a:prstGeom>
          <a:solidFill>
            <a:srgbClr val="161E2C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64224" y="2468880"/>
            <a:ext cx="196596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rPr dirty="0"/>
              <a:t>03 • </a:t>
            </a:r>
            <a:r>
              <a:rPr dirty="0" err="1"/>
              <a:t>Цель</a:t>
            </a:r>
            <a:endParaRPr dirty="0"/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rPr sz="1600" dirty="0" err="1"/>
              <a:t>Выбор</a:t>
            </a:r>
            <a:r>
              <a:rPr sz="1600" dirty="0"/>
              <a:t> </a:t>
            </a:r>
            <a:r>
              <a:rPr sz="1600" dirty="0" err="1"/>
              <a:t>пресета</a:t>
            </a:r>
            <a:r>
              <a:rPr sz="1600" dirty="0"/>
              <a:t> (</a:t>
            </a:r>
            <a:r>
              <a:rPr sz="1600" dirty="0" err="1"/>
              <a:t>Торг</a:t>
            </a:r>
            <a:r>
              <a:rPr sz="1600" dirty="0"/>
              <a:t>, </a:t>
            </a:r>
            <a:r>
              <a:rPr sz="1600" dirty="0" err="1"/>
              <a:t>Накал</a:t>
            </a:r>
            <a:r>
              <a:rPr sz="1600" dirty="0"/>
              <a:t>, </a:t>
            </a:r>
            <a:r>
              <a:rPr sz="1600" dirty="0" err="1"/>
              <a:t>Влиться</a:t>
            </a:r>
            <a:r>
              <a:rPr sz="1600" dirty="0"/>
              <a:t>) </a:t>
            </a:r>
            <a:r>
              <a:rPr sz="1600" dirty="0" err="1"/>
              <a:t>или</a:t>
            </a:r>
            <a:r>
              <a:rPr sz="1600" dirty="0"/>
              <a:t> </a:t>
            </a:r>
            <a:r>
              <a:rPr sz="1600" dirty="0" err="1"/>
              <a:t>свой</a:t>
            </a:r>
            <a:r>
              <a:rPr sz="1600" dirty="0"/>
              <a:t> </a:t>
            </a:r>
            <a:r>
              <a:rPr sz="1600" dirty="0" err="1"/>
              <a:t>текст</a:t>
            </a:r>
            <a:endParaRPr sz="1600" dirty="0"/>
          </a:p>
        </p:txBody>
      </p:sp>
      <p:sp>
        <p:nvSpPr>
          <p:cNvPr id="11" name="Rounded Rectangle 10"/>
          <p:cNvSpPr/>
          <p:nvPr/>
        </p:nvSpPr>
        <p:spPr>
          <a:xfrm>
            <a:off x="8723376" y="2331720"/>
            <a:ext cx="2331720" cy="1737360"/>
          </a:xfrm>
          <a:prstGeom prst="roundRect">
            <a:avLst/>
          </a:prstGeom>
          <a:solidFill>
            <a:srgbClr val="161E2C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06256" y="2468880"/>
            <a:ext cx="196596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rPr dirty="0"/>
              <a:t>04 • 1 </a:t>
            </a:r>
            <a:r>
              <a:rPr dirty="0" err="1"/>
              <a:t>клик</a:t>
            </a:r>
            <a:endParaRPr dirty="0"/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rPr sz="1600" dirty="0" err="1"/>
              <a:t>Готовый</a:t>
            </a:r>
            <a:r>
              <a:rPr sz="1600" dirty="0"/>
              <a:t> </a:t>
            </a:r>
            <a:r>
              <a:rPr sz="1600" dirty="0" err="1"/>
              <a:t>ответ</a:t>
            </a:r>
            <a:r>
              <a:rPr sz="1600" dirty="0"/>
              <a:t> </a:t>
            </a:r>
            <a:r>
              <a:rPr sz="1600" dirty="0" err="1"/>
              <a:t>копируется</a:t>
            </a:r>
            <a:r>
              <a:rPr sz="1600" dirty="0"/>
              <a:t> в </a:t>
            </a:r>
            <a:r>
              <a:rPr sz="1600" dirty="0" err="1"/>
              <a:t>буфер</a:t>
            </a:r>
            <a:r>
              <a:rPr sz="1600" dirty="0"/>
              <a:t> </a:t>
            </a:r>
            <a:r>
              <a:rPr sz="1600" dirty="0" err="1"/>
              <a:t>обмена</a:t>
            </a:r>
            <a:r>
              <a:rPr sz="1600" dirty="0"/>
              <a:t> </a:t>
            </a:r>
            <a:r>
              <a:rPr sz="1600" dirty="0" err="1"/>
              <a:t>для</a:t>
            </a:r>
            <a:r>
              <a:rPr sz="1600" dirty="0"/>
              <a:t> </a:t>
            </a:r>
            <a:r>
              <a:rPr sz="1600" dirty="0" err="1"/>
              <a:t>вставки</a:t>
            </a:r>
            <a:endParaRPr sz="1600" dirty="0"/>
          </a:p>
        </p:txBody>
      </p:sp>
      <p:sp>
        <p:nvSpPr>
          <p:cNvPr id="13" name="Rounded Rectangle 12"/>
          <p:cNvSpPr/>
          <p:nvPr/>
        </p:nvSpPr>
        <p:spPr>
          <a:xfrm>
            <a:off x="1097280" y="4343400"/>
            <a:ext cx="4846320" cy="1874519"/>
          </a:xfrm>
          <a:prstGeom prst="roundRect">
            <a:avLst/>
          </a:prstGeom>
          <a:solidFill>
            <a:srgbClr val="161E2C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4480560"/>
            <a:ext cx="448056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🎭 </a:t>
            </a:r>
            <a:r>
              <a:rPr dirty="0" err="1"/>
              <a:t>Анализ</a:t>
            </a:r>
            <a:r>
              <a:rPr dirty="0"/>
              <a:t> </a:t>
            </a:r>
            <a:r>
              <a:rPr dirty="0" err="1"/>
              <a:t>атмосферы</a:t>
            </a:r>
            <a:r>
              <a:rPr dirty="0"/>
              <a:t> и </a:t>
            </a:r>
            <a:r>
              <a:rPr dirty="0" err="1"/>
              <a:t>негласных</a:t>
            </a:r>
            <a:r>
              <a:rPr dirty="0"/>
              <a:t> </a:t>
            </a:r>
            <a:r>
              <a:rPr dirty="0" err="1"/>
              <a:t>правил</a:t>
            </a:r>
            <a:endParaRPr dirty="0"/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rPr sz="1600" dirty="0" err="1"/>
              <a:t>Модель</a:t>
            </a:r>
            <a:r>
              <a:rPr sz="1600" dirty="0"/>
              <a:t> </a:t>
            </a:r>
            <a:r>
              <a:rPr sz="1600" dirty="0" err="1"/>
              <a:t>оценивает</a:t>
            </a:r>
            <a:r>
              <a:rPr sz="1600" dirty="0"/>
              <a:t> </a:t>
            </a:r>
            <a:r>
              <a:rPr sz="1600" dirty="0" err="1"/>
              <a:t>накал</a:t>
            </a:r>
            <a:r>
              <a:rPr sz="1600" dirty="0"/>
              <a:t> (1–10 с </a:t>
            </a:r>
            <a:r>
              <a:rPr sz="1600" dirty="0" err="1"/>
              <a:t>цветовой</a:t>
            </a:r>
            <a:r>
              <a:rPr sz="1600" dirty="0"/>
              <a:t> </a:t>
            </a:r>
            <a:r>
              <a:rPr sz="1600" dirty="0" err="1"/>
              <a:t>индикацией</a:t>
            </a:r>
            <a:r>
              <a:rPr sz="1600" dirty="0"/>
              <a:t>), </a:t>
            </a:r>
            <a:r>
              <a:rPr sz="1600" dirty="0" err="1"/>
              <a:t>дистанцию</a:t>
            </a:r>
            <a:r>
              <a:rPr sz="1600" dirty="0"/>
              <a:t> и </a:t>
            </a:r>
            <a:r>
              <a:rPr sz="1600" dirty="0" err="1"/>
              <a:t>скрытые</a:t>
            </a:r>
            <a:r>
              <a:rPr sz="1600" dirty="0"/>
              <a:t> </a:t>
            </a:r>
            <a:r>
              <a:rPr sz="1600" dirty="0" err="1"/>
              <a:t>законы</a:t>
            </a:r>
            <a:r>
              <a:rPr sz="1600" dirty="0"/>
              <a:t> </a:t>
            </a:r>
            <a:r>
              <a:rPr sz="1600" dirty="0" err="1"/>
              <a:t>чата</a:t>
            </a:r>
            <a:r>
              <a:rPr sz="1600" dirty="0"/>
              <a:t> (</a:t>
            </a:r>
            <a:r>
              <a:rPr sz="1600" dirty="0" err="1"/>
              <a:t>например</a:t>
            </a:r>
            <a:r>
              <a:rPr sz="1600" dirty="0"/>
              <a:t>: «</a:t>
            </a:r>
            <a:r>
              <a:rPr sz="1600" dirty="0" err="1"/>
              <a:t>не</a:t>
            </a:r>
            <a:r>
              <a:rPr sz="1600" dirty="0"/>
              <a:t> </a:t>
            </a:r>
            <a:r>
              <a:rPr sz="1600" dirty="0" err="1"/>
              <a:t>душнить</a:t>
            </a:r>
            <a:r>
              <a:rPr sz="1600" dirty="0"/>
              <a:t>», «</a:t>
            </a:r>
            <a:r>
              <a:rPr sz="1600" dirty="0" err="1"/>
              <a:t>писать</a:t>
            </a:r>
            <a:r>
              <a:rPr sz="1600" dirty="0"/>
              <a:t> </a:t>
            </a:r>
            <a:r>
              <a:rPr sz="1600" dirty="0" err="1"/>
              <a:t>коротко</a:t>
            </a:r>
            <a:r>
              <a:rPr sz="1600" dirty="0"/>
              <a:t>», «</a:t>
            </a:r>
            <a:r>
              <a:rPr sz="1600" dirty="0" err="1"/>
              <a:t>сарказм</a:t>
            </a:r>
            <a:r>
              <a:rPr sz="1600" dirty="0"/>
              <a:t> </a:t>
            </a:r>
            <a:r>
              <a:rPr sz="1600" dirty="0" err="1"/>
              <a:t>уместен</a:t>
            </a:r>
            <a:r>
              <a:rPr sz="1600" dirty="0"/>
              <a:t>»).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343400"/>
            <a:ext cx="4846320" cy="1874519"/>
          </a:xfrm>
          <a:prstGeom prst="roundRect">
            <a:avLst/>
          </a:prstGeom>
          <a:solidFill>
            <a:srgbClr val="161E2C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448056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✍️ </a:t>
            </a:r>
            <a:r>
              <a:rPr dirty="0" err="1"/>
              <a:t>Аудит</a:t>
            </a:r>
            <a:r>
              <a:rPr dirty="0"/>
              <a:t> </a:t>
            </a:r>
            <a:r>
              <a:rPr dirty="0" err="1"/>
              <a:t>черновика</a:t>
            </a:r>
            <a:r>
              <a:rPr dirty="0"/>
              <a:t> и </a:t>
            </a:r>
            <a:r>
              <a:rPr dirty="0" err="1"/>
              <a:t>адаптивные</a:t>
            </a:r>
            <a:r>
              <a:rPr dirty="0"/>
              <a:t> </a:t>
            </a:r>
            <a:r>
              <a:rPr dirty="0" err="1"/>
              <a:t>ответы</a:t>
            </a:r>
            <a:endParaRPr dirty="0"/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rPr sz="1600" dirty="0" err="1"/>
              <a:t>Если</a:t>
            </a:r>
            <a:r>
              <a:rPr sz="1600" dirty="0"/>
              <a:t> </a:t>
            </a:r>
            <a:r>
              <a:rPr sz="1600" dirty="0" err="1"/>
              <a:t>вписан</a:t>
            </a:r>
            <a:r>
              <a:rPr sz="1600" dirty="0"/>
              <a:t> </a:t>
            </a:r>
            <a:r>
              <a:rPr sz="1600" dirty="0" err="1"/>
              <a:t>черновик</a:t>
            </a:r>
            <a:r>
              <a:rPr sz="1600" dirty="0"/>
              <a:t> </a:t>
            </a:r>
            <a:r>
              <a:rPr sz="1600" dirty="0" err="1"/>
              <a:t>ответа</a:t>
            </a:r>
            <a:r>
              <a:rPr sz="1600" dirty="0"/>
              <a:t>, ИИ </a:t>
            </a:r>
            <a:r>
              <a:rPr sz="1600" dirty="0" err="1"/>
              <a:t>укажет</a:t>
            </a:r>
            <a:r>
              <a:rPr sz="1600" dirty="0"/>
              <a:t> </a:t>
            </a:r>
            <a:r>
              <a:rPr sz="1600" dirty="0" err="1"/>
              <a:t>на</a:t>
            </a:r>
            <a:r>
              <a:rPr sz="1600" dirty="0"/>
              <a:t> </a:t>
            </a:r>
            <a:r>
              <a:rPr sz="1600" dirty="0" err="1"/>
              <a:t>его</a:t>
            </a:r>
            <a:r>
              <a:rPr sz="1600" dirty="0"/>
              <a:t> </a:t>
            </a:r>
            <a:r>
              <a:rPr sz="1600" dirty="0" err="1"/>
              <a:t>риски</a:t>
            </a:r>
            <a:r>
              <a:rPr sz="1600" dirty="0"/>
              <a:t>. </a:t>
            </a:r>
            <a:r>
              <a:rPr sz="1600" dirty="0" err="1"/>
              <a:t>На</a:t>
            </a:r>
            <a:r>
              <a:rPr sz="1600" dirty="0"/>
              <a:t> </a:t>
            </a:r>
            <a:r>
              <a:rPr sz="1600" dirty="0" err="1"/>
              <a:t>выбор</a:t>
            </a:r>
            <a:r>
              <a:rPr sz="1600" dirty="0"/>
              <a:t> </a:t>
            </a:r>
            <a:r>
              <a:rPr sz="1600" dirty="0" err="1"/>
              <a:t>дается</a:t>
            </a:r>
            <a:r>
              <a:rPr sz="1600" dirty="0"/>
              <a:t> 3–4 </a:t>
            </a:r>
            <a:r>
              <a:rPr sz="1600" dirty="0" err="1"/>
              <a:t>готовых</a:t>
            </a:r>
            <a:r>
              <a:rPr sz="1600" dirty="0"/>
              <a:t> </a:t>
            </a:r>
            <a:r>
              <a:rPr sz="1600" dirty="0" err="1"/>
              <a:t>стиля</a:t>
            </a:r>
            <a:r>
              <a:rPr sz="1600" dirty="0"/>
              <a:t> (</a:t>
            </a:r>
            <a:r>
              <a:rPr sz="1600" dirty="0" err="1"/>
              <a:t>твердый</a:t>
            </a:r>
            <a:r>
              <a:rPr sz="1600" dirty="0"/>
              <a:t>, </a:t>
            </a:r>
            <a:r>
              <a:rPr sz="1600" dirty="0" err="1"/>
              <a:t>дипломатичный</a:t>
            </a:r>
            <a:r>
              <a:rPr sz="1600" dirty="0"/>
              <a:t>, </a:t>
            </a:r>
            <a:r>
              <a:rPr sz="1600" dirty="0" err="1"/>
              <a:t>дружелюбный</a:t>
            </a:r>
            <a:r>
              <a:rPr sz="1600" dirty="0"/>
              <a:t>) с </a:t>
            </a:r>
            <a:r>
              <a:rPr sz="1600" dirty="0" err="1"/>
              <a:t>обоснованием</a:t>
            </a:r>
            <a:r>
              <a:rPr sz="1600" dirty="0"/>
              <a:t> </a:t>
            </a:r>
            <a:r>
              <a:rPr sz="1600" dirty="0" err="1"/>
              <a:t>эффекта</a:t>
            </a:r>
            <a:r>
              <a:rPr sz="1600" dirty="0"/>
              <a:t> </a:t>
            </a:r>
            <a:r>
              <a:rPr sz="1600" dirty="0" err="1"/>
              <a:t>каждой</a:t>
            </a:r>
            <a:r>
              <a:rPr sz="1600" dirty="0"/>
              <a:t> </a:t>
            </a:r>
            <a:r>
              <a:rPr sz="1600" dirty="0" err="1"/>
              <a:t>фразы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731520"/>
            <a:ext cx="2743200" cy="347472"/>
          </a:xfrm>
          <a:prstGeom prst="roundRect">
            <a:avLst/>
          </a:prstGeom>
          <a:solidFill>
            <a:srgbClr val="1A1C3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6366F1"/>
                </a:solidFill>
                <a:latin typeface="Segoe UI"/>
              </a:defRPr>
            </a:pPr>
            <a:r>
              <a:t>03 • ТЕХНИЧЕСКАЯ ЧАСТЬ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Архитектура решения: простота, скорость и безопасность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Разработано как независимый инструмент без необходимости сложной настройки: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331720"/>
            <a:ext cx="3154680" cy="3931920"/>
          </a:xfrm>
          <a:prstGeom prst="roundRect">
            <a:avLst/>
          </a:prstGeom>
          <a:solidFill>
            <a:srgbClr val="161E2C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2560320"/>
            <a:ext cx="365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2788920"/>
            <a:ext cx="2697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🖥️ Графический интерфейс (PyQt6)</a:t>
            </a:r>
          </a:p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Легковесный десктопный оверлей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Плавающее фреймлесс-окно всегда под рукой поверх любых приложений. Глобальный перехват Alt+S и интеграция в трей Windows позволяют работать без отвлечения от диалога.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8848" y="2331720"/>
            <a:ext cx="3154680" cy="3931920"/>
          </a:xfrm>
          <a:prstGeom prst="roundRect">
            <a:avLst/>
          </a:prstGeom>
          <a:solidFill>
            <a:srgbClr val="161E2C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73168" y="2560320"/>
            <a:ext cx="365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27448" y="2788920"/>
            <a:ext cx="2697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🧠 Нейросетевой анализ по API</a:t>
            </a:r>
          </a:p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Мультимодальная обработка кадров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Скриншоты диалога напрямую передаются в мультимодальную языковую модель по API (Gemini Vision) со строгой JSON-валидацией (Pydantic). Реализовано резервное переключение при лимитах.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0416" y="2331720"/>
            <a:ext cx="3154680" cy="3931920"/>
          </a:xfrm>
          <a:prstGeom prst="roundRect">
            <a:avLst/>
          </a:prstGeom>
          <a:solidFill>
            <a:srgbClr val="161E2C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74736" y="2560320"/>
            <a:ext cx="365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29016" y="2788920"/>
            <a:ext cx="2697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🔒 Безопасность и автономность</a:t>
            </a:r>
          </a:p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Без риска бана аккаунтов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Захват идет через системный буфер памяти без записи на диск. Приложение не внедряется в мессенджеры (Telegram, WhatsApp) и скомпилировано в единый EXE-файл без установки Python.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731520"/>
            <a:ext cx="2560320" cy="347472"/>
          </a:xfrm>
          <a:prstGeom prst="roundRect">
            <a:avLst/>
          </a:prstGeom>
          <a:solidFill>
            <a:srgbClr val="1024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04 • ИТОГИ И ЦЕННОСТЬ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VibeSense AI: уверенность в каждом сообщении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Сервис превращает невербальный хаос переписок в понятный и управляемый диалог.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377440"/>
            <a:ext cx="3154680" cy="2011680"/>
          </a:xfrm>
          <a:prstGeom prst="roundRect">
            <a:avLst/>
          </a:prstGeom>
          <a:solidFill>
            <a:srgbClr val="161E2C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514600"/>
            <a:ext cx="278892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Segoe UI"/>
              </a:defRPr>
            </a:pPr>
            <a:r>
              <a:rPr dirty="0"/>
              <a:t>&lt; </a:t>
            </a:r>
            <a:r>
              <a:rPr lang="ru-RU" dirty="0"/>
              <a:t>10</a:t>
            </a:r>
            <a:r>
              <a:rPr dirty="0"/>
              <a:t> </a:t>
            </a:r>
            <a:r>
              <a:rPr dirty="0" err="1"/>
              <a:t>сек</a:t>
            </a:r>
            <a:endParaRPr dirty="0"/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Скорость</a:t>
            </a:r>
            <a:r>
              <a:rPr dirty="0"/>
              <a:t> </a:t>
            </a:r>
            <a:r>
              <a:rPr dirty="0" err="1"/>
              <a:t>анализа</a:t>
            </a:r>
            <a:endParaRPr dirty="0"/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снимка</a:t>
            </a:r>
            <a:r>
              <a:rPr dirty="0"/>
              <a:t> </a:t>
            </a:r>
            <a:r>
              <a:rPr dirty="0" err="1"/>
              <a:t>экрана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готовых</a:t>
            </a:r>
            <a:r>
              <a:rPr dirty="0"/>
              <a:t> </a:t>
            </a:r>
            <a:r>
              <a:rPr dirty="0" err="1"/>
              <a:t>вариантов</a:t>
            </a:r>
            <a:r>
              <a:rPr dirty="0"/>
              <a:t> </a:t>
            </a:r>
            <a:r>
              <a:rPr dirty="0" err="1"/>
              <a:t>ответа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выбранную</a:t>
            </a:r>
            <a:r>
              <a:rPr dirty="0"/>
              <a:t> </a:t>
            </a:r>
            <a:r>
              <a:rPr dirty="0" err="1"/>
              <a:t>цель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4498848" y="2377440"/>
            <a:ext cx="3154680" cy="2011680"/>
          </a:xfrm>
          <a:prstGeom prst="roundRect">
            <a:avLst/>
          </a:prstGeom>
          <a:solidFill>
            <a:srgbClr val="161E2C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1728" y="2514600"/>
            <a:ext cx="2788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Segoe UI"/>
              </a:defRPr>
            </a:pPr>
            <a:r>
              <a:t>100%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Совместимость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Работает в Telegram, Discord, WhatsApp, браузере и любых окнах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0416" y="2377440"/>
            <a:ext cx="3154680" cy="2011680"/>
          </a:xfrm>
          <a:prstGeom prst="roundRect">
            <a:avLst/>
          </a:prstGeom>
          <a:solidFill>
            <a:srgbClr val="161E2C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83296" y="2514600"/>
            <a:ext cx="2788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Segoe UI"/>
              </a:defRPr>
            </a:pPr>
            <a:r>
              <a:t>1 клик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Автономность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Собран единый VibeSense.exe — запускается сразу без настроек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709160"/>
            <a:ext cx="9966960" cy="1463040"/>
          </a:xfrm>
          <a:prstGeom prst="roundRect">
            <a:avLst/>
          </a:prstGeom>
          <a:solidFill>
            <a:srgbClr val="1C2638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4800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🚀 Исходный код и готовый бинарник опубликованы в открытом доступе:</a:t>
            </a:r>
          </a:p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• Репозиторий проекта:  https://github.com/EgorDushenkov/ELAY</a:t>
            </a:r>
          </a:p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• Скачать релиз VibeSense.exe:  https://github.com/EgorDushenkov/ELAY/releases/tag/v1.0.0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605</Words>
  <Application>Microsoft Office PowerPoint</Application>
  <PresentationFormat>Широкоэкранный</PresentationFormat>
  <Paragraphs>63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Егор Душенков</cp:lastModifiedBy>
  <cp:revision>2</cp:revision>
  <dcterms:created xsi:type="dcterms:W3CDTF">2013-01-27T09:14:16Z</dcterms:created>
  <dcterms:modified xsi:type="dcterms:W3CDTF">2026-10-31T18:15:08Z</dcterms:modified>
  <cp:category/>
</cp:coreProperties>
</file>